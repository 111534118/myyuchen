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71" r:id="rId15"/>
    <p:sldId id="272" r:id="rId1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Roboto Mono" panose="02020500000000000000" charset="0"/>
      <p:regular r:id="rId22"/>
      <p:bold r:id="rId23"/>
      <p:italic r:id="rId24"/>
      <p:boldItalic r:id="rId25"/>
    </p:embeddedFont>
    <p:embeddedFont>
      <p:font typeface="微軟正黑體" panose="020B0604030504040204" pitchFamily="34" charset="-120"/>
      <p:regular r:id="rId26"/>
      <p:bold r:id="rId27"/>
    </p:embeddedFont>
    <p:embeddedFont>
      <p:font typeface="Nunito" panose="02020500000000000000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29d5ecab4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29d5ecab4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29d5ecab4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29d5ecab4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29d5ecab4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29d5ecab4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29d5ecab4_0_3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29d5ecab4_0_3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29d5ecab4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29d5ecab4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29d5ecab4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29d5ecab4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29d5ecab4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b29d5ecab4_0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29d5ecab4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29d5ecab4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29d5ecab4_0_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29d5ecab4_0_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29d5ecab4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29d5ecab4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29d5ecab4_0_3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29d5ecab4_0_3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29d5ecab4_0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29d5ecab4_0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29d5ecab4_0_3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29d5ecab4_0_3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29d5ecab4_0_4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b29d5ecab4_0_4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6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9" name="Google Shape;69;p6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hift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1313449" y="1366975"/>
            <a:ext cx="6451800" cy="14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《Peak》遊戲攻略靜態網站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1891350" y="2889558"/>
            <a:ext cx="5361300" cy="52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組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員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:111534104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黃也哲 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111534115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李宗軒 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111534118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馬宇承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xfrm>
            <a:off x="185077" y="231551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專案介紹（REQ）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xfrm>
            <a:off x="311362" y="1114335"/>
            <a:ext cx="4499324" cy="29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QA:為什麼要做這個專題？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因為很多人在玩遊戲時會卡關、迷路、不知道怎麼玩</a:t>
            </a:r>
            <a:b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與其一直重來，不如有一個地方可以快速查攻略。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我們希望做一個</a:t>
            </a:r>
            <a:b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👉 讓玩家「查怎麼玩」而不是討論「好不好玩」的網站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情境很簡單：</a:t>
            </a:r>
            <a:b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你卡在某一關 → 打開網站 → 看地圖或文字 → 繼續變強 💪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6" name="Google Shape;136;p14"/>
          <p:cNvSpPr txBox="1">
            <a:spLocks noGrp="1"/>
          </p:cNvSpPr>
          <p:nvPr>
            <p:ph type="body" idx="1"/>
          </p:nvPr>
        </p:nvSpPr>
        <p:spPr>
          <a:xfrm>
            <a:off x="4810686" y="1114335"/>
            <a:ext cx="3949200" cy="29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QA:使用者是誰？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有在玩《Peak》的玩家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特別是</a:t>
            </a:r>
            <a:r>
              <a:rPr 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：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/>
            </a:r>
            <a:b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r>
              <a:rPr 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新</a:t>
            </a: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手玩</a:t>
            </a:r>
            <a:r>
              <a:rPr 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家</a:t>
            </a: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 </a:t>
            </a:r>
            <a: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/>
            </a:r>
            <a:br>
              <a:rPr lang="en-US" alt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r>
              <a:rPr 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在</a:t>
            </a: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地圖中迷路的</a:t>
            </a:r>
            <a:r>
              <a:rPr 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人</a:t>
            </a:r>
            <a: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/>
            </a:r>
            <a:br>
              <a:rPr lang="en-US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r>
              <a:rPr 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想</a:t>
            </a: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收集要素但怕漏掉的人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>
            <a:spLocks noGrp="1"/>
          </p:cNvSpPr>
          <p:nvPr>
            <p:ph type="body" idx="1"/>
          </p:nvPr>
        </p:nvSpPr>
        <p:spPr>
          <a:xfrm>
            <a:off x="540366" y="987819"/>
            <a:ext cx="7505700" cy="26564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提</a:t>
            </a:r>
            <a:r>
              <a:rPr lang="zh-TW" sz="1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供一個 可操作、可展示的攻略網站原型</a:t>
            </a:r>
            <a:br>
              <a:rPr lang="zh-TW" sz="1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sz="12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在 15 小時內完成</a:t>
            </a:r>
            <a:br>
              <a:rPr lang="zh-TW" sz="1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sz="12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重點不是做完</a:t>
            </a:r>
            <a:r>
              <a:rPr lang="zh-TW" sz="12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整</a:t>
            </a:r>
            <a:r>
              <a:rPr lang="en-US" altLang="zh-TW" sz="12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/>
            </a:r>
            <a:br>
              <a:rPr lang="en-US" altLang="zh-TW" sz="12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r>
              <a:rPr lang="zh-TW" sz="12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而</a:t>
            </a:r>
            <a:r>
              <a:rPr lang="zh-TW" sz="1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是</a:t>
            </a:r>
            <a:r>
              <a:rPr lang="zh-TW" sz="12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：</a:t>
            </a:r>
            <a:endParaRPr sz="12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128588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2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能跑</a:t>
            </a:r>
            <a:endParaRPr sz="12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128588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2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能點</a:t>
            </a:r>
            <a:endParaRPr sz="12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128588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2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能說明概念</a:t>
            </a:r>
            <a:endParaRPr sz="12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53512" y="233605"/>
            <a:ext cx="49791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TW" sz="3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QA:</a:t>
            </a:r>
            <a:r>
              <a:rPr lang="zh-TW" altLang="en-US" sz="30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專案目標是什麼？</a:t>
            </a:r>
          </a:p>
          <a:p>
            <a:endParaRPr lang="zh-TW" altLang="en-US" sz="3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>
            <a:spLocks noGrp="1"/>
          </p:cNvSpPr>
          <p:nvPr>
            <p:ph type="body" idx="1"/>
          </p:nvPr>
        </p:nvSpPr>
        <p:spPr>
          <a:xfrm>
            <a:off x="198426" y="-73419"/>
            <a:ext cx="7505700" cy="393146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zh-TW" sz="2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分工內</a:t>
            </a:r>
            <a:r>
              <a:rPr lang="zh-TW" sz="2800" b="1" dirty="0" smtClean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容</a:t>
            </a:r>
            <a:r>
              <a:rPr lang="en-US" altLang="zh-TW" sz="28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/>
            </a:r>
            <a:br>
              <a:rPr lang="en-US" altLang="zh-TW" sz="28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lang="en-US" altLang="zh-TW" sz="28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TW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111534118</a:t>
            </a:r>
            <a:r>
              <a:rPr lang="zh-TW" altLang="en-US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馬宇承 寫程</a:t>
            </a:r>
            <a:r>
              <a:rPr lang="zh-TW" altLang="en-US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式</a:t>
            </a:r>
            <a:endParaRPr lang="en-US" altLang="zh-TW" sz="16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TW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/>
            </a:r>
            <a:br>
              <a:rPr lang="en-US" altLang="zh-TW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r>
              <a:rPr lang="en-US" altLang="zh-TW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111534115</a:t>
            </a:r>
            <a:r>
              <a:rPr lang="zh-TW" altLang="en-US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李宗軒 蒐集攻略資</a:t>
            </a:r>
            <a:r>
              <a:rPr lang="zh-TW" altLang="en-US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料</a:t>
            </a:r>
            <a:endParaRPr lang="en-US" altLang="zh-TW" sz="16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n-US" altLang="zh-TW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/>
            </a:r>
            <a:br>
              <a:rPr lang="en-US" altLang="zh-TW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r>
              <a:rPr lang="en-US" altLang="zh-TW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111534104</a:t>
            </a:r>
            <a:r>
              <a:rPr lang="zh-TW" altLang="en-US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黃也哲 做</a:t>
            </a:r>
            <a:r>
              <a:rPr lang="en-US" altLang="zh-TW" sz="16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ppt</a:t>
            </a:r>
            <a:endParaRPr sz="16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>
            <a:spLocks noGrp="1"/>
          </p:cNvSpPr>
          <p:nvPr>
            <p:ph type="title"/>
          </p:nvPr>
        </p:nvSpPr>
        <p:spPr>
          <a:xfrm>
            <a:off x="238473" y="211527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需求與分析（SA）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4" name="Google Shape;154;p17"/>
          <p:cNvSpPr txBox="1">
            <a:spLocks noGrp="1"/>
          </p:cNvSpPr>
          <p:nvPr>
            <p:ph type="body" idx="1"/>
          </p:nvPr>
        </p:nvSpPr>
        <p:spPr>
          <a:xfrm>
            <a:off x="438706" y="1366286"/>
            <a:ext cx="7505700" cy="40133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  <a:t>新</a:t>
            </a:r>
            <a:r>
              <a:rPr lang="zh-TW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  <a:t>手登山</a:t>
            </a:r>
            <a:r>
              <a:rPr lang="zh-TW" sz="1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  <a:t>客</a:t>
            </a:r>
            <a:endParaRPr sz="14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  <a:sym typeface="Arial"/>
            </a:endParaRPr>
          </a:p>
          <a:p>
            <a:pPr marL="450850" indent="-285750">
              <a:spcBef>
                <a:spcPts val="1200"/>
              </a:spcBef>
              <a:buClr>
                <a:srgbClr val="000000"/>
              </a:buClr>
              <a:buSzPts val="1000"/>
            </a:pPr>
            <a:r>
              <a:rPr lang="zh-TW" sz="1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  <a:t>痛點：一開始就被難度勸退</a:t>
            </a:r>
            <a:br>
              <a:rPr lang="zh-TW" sz="1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</a:br>
            <a:endParaRPr sz="14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  <a:sym typeface="Arial"/>
            </a:endParaRPr>
          </a:p>
          <a:p>
            <a:pPr marL="450850" indent="-285750">
              <a:buClr>
                <a:srgbClr val="000000"/>
              </a:buClr>
              <a:buSzPts val="1000"/>
            </a:pPr>
            <a:r>
              <a:rPr lang="zh-TW" sz="1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  <a:t>需</a:t>
            </a:r>
            <a:r>
              <a:rPr lang="zh-TW" sz="14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  <a:t>求：知道第一個任務怎麼玩</a:t>
            </a:r>
            <a:endParaRPr sz="1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altLang="en-US" sz="1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  <a:t>    </a:t>
            </a:r>
            <a:r>
              <a:rPr lang="zh-TW" sz="1400" b="1" dirty="0" smtClean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  <a:t>迷路的探索者</a:t>
            </a:r>
            <a:endParaRPr lang="en-US" altLang="zh-TW" sz="1400" b="1" dirty="0" smtClean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  <a:sym typeface="Arial"/>
            </a:endParaRPr>
          </a:p>
          <a:p>
            <a:pPr marL="165100" lvl="0">
              <a:spcBef>
                <a:spcPts val="1200"/>
              </a:spcBef>
              <a:buSzPts val="1000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痛點：卡在某區域浪費時間</a:t>
            </a:r>
            <a:b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endParaRPr lang="zh-TW" altLang="en-US" sz="1400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65100">
              <a:buSzPts val="1000"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需求：快速知道這裡是幹嘛的</a:t>
            </a:r>
            <a:endParaRPr sz="14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94427" y="1610969"/>
            <a:ext cx="4572000" cy="11079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65100" lvl="0">
              <a:spcBef>
                <a:spcPts val="1200"/>
              </a:spcBef>
              <a:buSzPts val="1000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完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美主義收藏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家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50850" lvl="0" indent="-285750">
              <a:spcBef>
                <a:spcPts val="1200"/>
              </a:spcBef>
              <a:buSzPts val="1000"/>
              <a:buFont typeface="Arial" panose="020B0604020202020204" pitchFamily="34" charset="0"/>
              <a:buChar char="•"/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痛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點：怕漏東西</a:t>
            </a:r>
            <a:b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50850" lvl="0" indent="-285750">
              <a:buSzPts val="1000"/>
              <a:buFont typeface="Arial" panose="020B0604020202020204" pitchFamily="34" charset="0"/>
              <a:buChar char="•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需求：知道收藏品位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置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title"/>
          </p:nvPr>
        </p:nvSpPr>
        <p:spPr>
          <a:xfrm>
            <a:off x="289728" y="146904"/>
            <a:ext cx="2256575" cy="7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Calibri"/>
                <a:sym typeface="Calibri"/>
              </a:rPr>
              <a:t>功能性需求</a:t>
            </a:r>
            <a:endParaRPr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1"/>
          </p:nvPr>
        </p:nvSpPr>
        <p:spPr>
          <a:xfrm>
            <a:off x="558946" y="1101284"/>
            <a:ext cx="1837181" cy="3721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1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</a:t>
            </a:r>
            <a:r>
              <a:rPr 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化版互動地圖</a:t>
            </a:r>
            <a:endParaRPr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65100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固定地圖圖</a:t>
            </a:r>
            <a:r>
              <a:rPr 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片</a:t>
            </a:r>
            <a:br>
              <a:rPr lang="zh-TW" sz="14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6510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2–3 個可點擊點位</a:t>
            </a:r>
            <a:br>
              <a:rPr 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46303" y="1336668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Bef>
                <a:spcPts val="1200"/>
              </a:spcBef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靜態圖文攻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略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頁 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HTML</a:t>
            </a:r>
            <a:b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b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固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定文字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圖片</a:t>
            </a:r>
            <a:b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85465" y="1290501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65100" lvl="0">
              <a:buSzPct val="100000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說明第一個任務</a:t>
            </a:r>
          </a:p>
          <a:p>
            <a:pPr lvl="0">
              <a:spcBef>
                <a:spcPts val="1200"/>
              </a:spcBef>
            </a:pP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基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本頁面導覽</a:t>
            </a:r>
          </a:p>
          <a:p>
            <a:pPr marL="165100" lvl="0">
              <a:spcBef>
                <a:spcPts val="1200"/>
              </a:spcBef>
              <a:buSzPct val="100000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上方導覽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</a:t>
            </a:r>
            <a:b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165100" lvl="0">
              <a:buSzPct val="100000"/>
            </a:pP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地圖 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攻略 可切換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>
            <a:spLocks noGrp="1"/>
          </p:cNvSpPr>
          <p:nvPr>
            <p:ph type="title"/>
          </p:nvPr>
        </p:nvSpPr>
        <p:spPr>
          <a:xfrm>
            <a:off x="211774" y="251574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非功能性需求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6" name="Google Shape;166;p19"/>
          <p:cNvSpPr txBox="1">
            <a:spLocks noGrp="1"/>
          </p:cNvSpPr>
          <p:nvPr>
            <p:ph type="body" idx="1"/>
          </p:nvPr>
        </p:nvSpPr>
        <p:spPr>
          <a:xfrm>
            <a:off x="211774" y="1021224"/>
            <a:ext cx="7505700" cy="28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285750" indent="-285750"/>
            <a: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純靜態網站，載入要快</a:t>
            </a:r>
            <a:b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200"/>
              </a:spcBef>
            </a:pPr>
            <a: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介面簡單，不用教就會用</a:t>
            </a:r>
            <a:b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200"/>
              </a:spcBef>
            </a:pPr>
            <a: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Chrome / Edge 能正常顯示</a:t>
            </a:r>
            <a:b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200"/>
              </a:spcBef>
            </a:pPr>
            <a: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桌機優先，手機能看即可</a:t>
            </a:r>
            <a:b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200"/>
              </a:spcBef>
            </a:pPr>
            <a:r>
              <a:rPr 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無後端、無資料庫（Out of Scope）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>
            <a:spLocks noGrp="1"/>
          </p:cNvSpPr>
          <p:nvPr>
            <p:ph type="title"/>
          </p:nvPr>
        </p:nvSpPr>
        <p:spPr>
          <a:xfrm>
            <a:off x="198425" y="218202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流程圖</a:t>
            </a:r>
            <a:endParaRPr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2356" y="1172802"/>
            <a:ext cx="4585048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>
            <a:spLocks noGrp="1"/>
          </p:cNvSpPr>
          <p:nvPr>
            <p:ph type="title"/>
          </p:nvPr>
        </p:nvSpPr>
        <p:spPr>
          <a:xfrm>
            <a:off x="178402" y="64689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系統架構與展示（SD）</a:t>
            </a:r>
            <a:endParaRPr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9" name="Google Shape;179;p21"/>
          <p:cNvSpPr txBox="1">
            <a:spLocks noGrp="1"/>
          </p:cNvSpPr>
          <p:nvPr>
            <p:ph type="body" idx="1"/>
          </p:nvPr>
        </p:nvSpPr>
        <p:spPr>
          <a:xfrm>
            <a:off x="378636" y="1276559"/>
            <a:ext cx="2618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系統架構說明</a:t>
            </a:r>
            <a:endParaRPr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169228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前端展示層</a:t>
            </a:r>
            <a:b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626428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HTML / CSS </a:t>
            </a:r>
            <a:br>
              <a:rPr 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169228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靜態內容服務</a:t>
            </a:r>
            <a:b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626428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Spring Boot 只負責丟檔案</a:t>
            </a:r>
            <a:br>
              <a:rPr 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169228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後端 / 資料庫</a:t>
            </a:r>
            <a:b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626428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沒有</a:t>
            </a:r>
            <a:endParaRPr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0" name="Google Shape;180;p21"/>
          <p:cNvSpPr txBox="1">
            <a:spLocks noGrp="1"/>
          </p:cNvSpPr>
          <p:nvPr>
            <p:ph type="body" idx="1"/>
          </p:nvPr>
        </p:nvSpPr>
        <p:spPr>
          <a:xfrm>
            <a:off x="3884531" y="1276559"/>
            <a:ext cx="2618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zh-TW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頁面結構</a:t>
            </a:r>
            <a:endParaRPr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zh-TW" sz="1100" b="1" dirty="0">
                <a:solidFill>
                  <a:srgbClr val="188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 Mono"/>
                <a:sym typeface="Roboto Mono"/>
              </a:rPr>
              <a:t>index.html</a:t>
            </a:r>
            <a: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：首頁 + 導覽列</a:t>
            </a:r>
            <a:b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zh-TW" sz="1100" b="1" dirty="0">
                <a:solidFill>
                  <a:srgbClr val="188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 Mono"/>
                <a:sym typeface="Roboto Mono"/>
              </a:rPr>
              <a:t>map.html</a:t>
            </a:r>
            <a: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：互動地圖</a:t>
            </a:r>
            <a:b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zh-TW" sz="1100" b="1" dirty="0">
                <a:solidFill>
                  <a:srgbClr val="188038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Roboto Mono"/>
                <a:sym typeface="Roboto Mono"/>
              </a:rPr>
              <a:t>guide.html</a:t>
            </a:r>
            <a:r>
              <a:rPr lang="zh-TW" sz="1100" b="1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  <a:sym typeface="Arial"/>
              </a:rPr>
              <a:t>：靜態攻略</a:t>
            </a:r>
            <a:endParaRPr sz="11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endParaRPr sz="1300" b="1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198425" y="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  <a:sym typeface="Arial"/>
              </a:rPr>
              <a:t>核心功能展示</a:t>
            </a:r>
            <a:endParaRPr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525474" y="689206"/>
            <a:ext cx="7505700" cy="44542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 smtClean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互</a:t>
            </a: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動地圖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190183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地圖為固定圖片</a:t>
            </a:r>
            <a:b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190183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點擊圖標 → JS 彈出 Modal</a:t>
            </a:r>
            <a:b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190183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所有資料皆為硬編碼</a:t>
            </a:r>
            <a:b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攻略頁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190183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純 HTML</a:t>
            </a:r>
            <a:b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190183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文字 + 圖片</a:t>
            </a:r>
            <a:b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</a:b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190183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Arial"/>
              </a:rPr>
              <a:t>快速載入</a:t>
            </a:r>
            <a:endParaRPr sz="1200" b="1" dirty="0">
              <a:latin typeface="微軟正黑體" panose="020B0604030504040204" pitchFamily="34" charset="-120"/>
              <a:ea typeface="微軟正黑體" panose="020B0604030504040204" pitchFamily="34" charset="-120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 txBox="1">
            <a:spLocks noGrp="1"/>
          </p:cNvSpPr>
          <p:nvPr>
            <p:ph type="title"/>
          </p:nvPr>
        </p:nvSpPr>
        <p:spPr>
          <a:xfrm>
            <a:off x="191752" y="218202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/>
              <a:t>問題與解決方案</a:t>
            </a:r>
            <a:endParaRPr b="1" dirty="0"/>
          </a:p>
        </p:txBody>
      </p:sp>
      <p:sp>
        <p:nvSpPr>
          <p:cNvPr id="192" name="Google Shape;192;p23"/>
          <p:cNvSpPr txBox="1">
            <a:spLocks noGrp="1"/>
          </p:cNvSpPr>
          <p:nvPr>
            <p:ph type="body" idx="1"/>
          </p:nvPr>
        </p:nvSpPr>
        <p:spPr>
          <a:xfrm>
            <a:off x="492102" y="1590258"/>
            <a:ext cx="30498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zh-TW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遇到的困難</a:t>
            </a:r>
            <a:br>
              <a:rPr lang="zh-TW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zh-TW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一開始想做動態地圖，發現會爆炸</a:t>
            </a:r>
            <a:br>
              <a:rPr lang="zh-TW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rPr lang="zh-TW" sz="18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要控制「想做的」跟「做得到的」</a:t>
            </a:r>
            <a:endParaRPr sz="18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zh-TW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/>
          </a:p>
        </p:txBody>
      </p:sp>
      <p:sp>
        <p:nvSpPr>
          <p:cNvPr id="193" name="Google Shape;193;p23"/>
          <p:cNvSpPr txBox="1">
            <a:spLocks noGrp="1"/>
          </p:cNvSpPr>
          <p:nvPr>
            <p:ph type="body" idx="1"/>
          </p:nvPr>
        </p:nvSpPr>
        <p:spPr>
          <a:xfrm>
            <a:off x="4473361" y="1590258"/>
            <a:ext cx="30498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zh-TW" sz="1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解決方法</a:t>
            </a:r>
            <a:endParaRPr sz="1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3989" lvl="0" indent="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明確定義 MVP</a:t>
            </a:r>
            <a:br>
              <a:rPr lang="zh-TW" sz="1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3989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不做後端、不做資料庫</a:t>
            </a:r>
            <a:br>
              <a:rPr lang="zh-TW" sz="1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3989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改用硬編碼資料，先把概念做出來</a:t>
            </a:r>
            <a:br>
              <a:rPr lang="zh-TW" sz="1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63989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None/>
            </a:pPr>
            <a:r>
              <a:rPr lang="zh-TW" sz="19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先能展示，再談優化</a:t>
            </a:r>
            <a:endParaRPr sz="19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zh-TW" sz="11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>
            <a:spLocks noGrp="1"/>
          </p:cNvSpPr>
          <p:nvPr>
            <p:ph type="title"/>
          </p:nvPr>
        </p:nvSpPr>
        <p:spPr>
          <a:xfrm>
            <a:off x="211775" y="211527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/>
              <a:t>心得與未來展望</a:t>
            </a:r>
            <a:endParaRPr b="1" dirty="0"/>
          </a:p>
        </p:txBody>
      </p:sp>
      <p:sp>
        <p:nvSpPr>
          <p:cNvPr id="199" name="Google Shape;199;p24"/>
          <p:cNvSpPr txBox="1">
            <a:spLocks noGrp="1"/>
          </p:cNvSpPr>
          <p:nvPr>
            <p:ph type="body" idx="1"/>
          </p:nvPr>
        </p:nvSpPr>
        <p:spPr>
          <a:xfrm>
            <a:off x="336541" y="954674"/>
            <a:ext cx="8413665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altLang="zh-TW" b="1" dirty="0" smtClean="0"/>
              <a:t>111534104</a:t>
            </a:r>
            <a:r>
              <a:rPr lang="zh-TW" altLang="en-US" b="1" dirty="0" smtClean="0"/>
              <a:t>黃也哲</a:t>
            </a:r>
            <a:r>
              <a:rPr lang="zh-TW" b="1" dirty="0" smtClean="0"/>
              <a:t>成員心得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zh-TW" altLang="en-US" b="1" dirty="0" smtClean="0"/>
              <a:t>學習了之後使用 </a:t>
            </a:r>
            <a:r>
              <a:rPr lang="en-US" altLang="zh-TW" b="1" dirty="0" smtClean="0"/>
              <a:t>AI </a:t>
            </a:r>
            <a:r>
              <a:rPr lang="zh-TW" altLang="en-US" b="1" dirty="0" smtClean="0"/>
              <a:t>工具變的比較簡單好上手一點</a:t>
            </a:r>
            <a:r>
              <a:rPr lang="en-US" altLang="zh-TW" b="1" dirty="0" smtClean="0"/>
              <a:t>,</a:t>
            </a:r>
            <a:r>
              <a:rPr lang="zh-TW" altLang="en-US" b="1" dirty="0" smtClean="0"/>
              <a:t>重點不在於死背指令，而是學會如何與機器溝通與協作。</a:t>
            </a:r>
            <a:r>
              <a:rPr lang="en-US" altLang="zh-TW" b="1" dirty="0" smtClean="0"/>
              <a:t/>
            </a:r>
            <a:br>
              <a:rPr lang="en-US" altLang="zh-TW" b="1" dirty="0" smtClean="0"/>
            </a:br>
            <a:r>
              <a:rPr lang="zh-TW" altLang="en-US" b="1" dirty="0" smtClean="0"/>
              <a:t>    </a:t>
            </a:r>
            <a:endParaRPr b="1" dirty="0"/>
          </a:p>
        </p:txBody>
      </p:sp>
      <p:sp>
        <p:nvSpPr>
          <p:cNvPr id="4" name="Google Shape;204;p25"/>
          <p:cNvSpPr txBox="1">
            <a:spLocks/>
          </p:cNvSpPr>
          <p:nvPr/>
        </p:nvSpPr>
        <p:spPr>
          <a:xfrm>
            <a:off x="336541" y="2033653"/>
            <a:ext cx="8298152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unito"/>
              <a:buNone/>
              <a:defRPr sz="3000" b="0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altLang="zh-TW" sz="1300" b="1" dirty="0" smtClean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111534115</a:t>
            </a:r>
            <a:r>
              <a:rPr lang="zh-TW" altLang="en-US" sz="1300" b="1" dirty="0" smtClean="0">
                <a:solidFill>
                  <a:schemeClr val="dk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李宗軒成員心得</a:t>
            </a:r>
            <a:br>
              <a:rPr lang="zh-TW" altLang="en-US" sz="1300" b="1" dirty="0" smtClean="0">
                <a:solidFill>
                  <a:schemeClr val="dk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zh-TW" altLang="en-US" sz="1300" b="1" dirty="0" smtClean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/>
            </a:r>
            <a:br>
              <a:rPr lang="zh-TW" altLang="en-US" sz="1300" b="1" dirty="0" smtClean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zh-TW" altLang="en-US" sz="1300" b="1" dirty="0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原本需要數小時的構思、寫程式或繪圖，透過 </a:t>
            </a:r>
            <a:r>
              <a:rPr lang="en-US" altLang="zh-TW" sz="1300" b="1" dirty="0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zh-TW" altLang="en-US" sz="1300" b="1" dirty="0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可以在幾分鐘內完成初稿，極大化了產出速度。</a:t>
            </a:r>
            <a:br>
              <a:rPr lang="zh-TW" altLang="en-US" sz="1300" b="1" dirty="0" smtClean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zh-TW" altLang="en-US" sz="1300" b="1" dirty="0" smtClean="0">
                <a:solidFill>
                  <a:schemeClr val="dk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     </a:t>
            </a:r>
            <a:endParaRPr lang="zh-TW" altLang="en-US" sz="13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36541" y="3090729"/>
            <a:ext cx="73809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111534118</a:t>
            </a:r>
            <a:r>
              <a:rPr lang="zh-TW" altLang="en-US" b="1" dirty="0">
                <a:solidFill>
                  <a:schemeClr val="dk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馬宇承 </a:t>
            </a:r>
            <a:r>
              <a:rPr lang="zh-TW" altLang="zh-TW" b="1" dirty="0">
                <a:solidFill>
                  <a:schemeClr val="dk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成員心得</a:t>
            </a:r>
            <a:r>
              <a:rPr lang="en-US" altLang="zh-TW" b="1" dirty="0">
                <a:solidFill>
                  <a:schemeClr val="dk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/>
            </a:r>
            <a:br>
              <a:rPr lang="en-US" altLang="zh-TW" b="1" dirty="0">
                <a:solidFill>
                  <a:schemeClr val="dk2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n-US" altLang="zh-TW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/>
            </a:r>
            <a:br>
              <a:rPr lang="en-US" altLang="zh-TW" b="1" dirty="0">
                <a:solidFill>
                  <a:schemeClr val="dk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zh-TW" altLang="en-US" b="1" dirty="0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理解到第一份答案不是完美的，但是透過持續的追問與修正 </a:t>
            </a:r>
            <a:r>
              <a:rPr lang="en-US" altLang="zh-TW" b="1" dirty="0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,</a:t>
            </a:r>
            <a:r>
              <a:rPr lang="zh-TW" altLang="en-US" b="1" dirty="0">
                <a:solidFill>
                  <a:schemeClr val="dk2"/>
                </a:solidFill>
                <a:latin typeface="Calibri"/>
                <a:ea typeface="Calibri"/>
                <a:cs typeface="Calibri"/>
              </a:rPr>
              <a:t>解決並理解了複雜的問題。</a:t>
            </a:r>
            <a:endParaRPr lang="zh-TW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>
            <a:spLocks noGrp="1"/>
          </p:cNvSpPr>
          <p:nvPr>
            <p:ph type="title"/>
          </p:nvPr>
        </p:nvSpPr>
        <p:spPr>
          <a:xfrm>
            <a:off x="178403" y="191503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/>
              <a:t>未來可以改進的地方</a:t>
            </a:r>
            <a:endParaRPr b="1" dirty="0"/>
          </a:p>
        </p:txBody>
      </p:sp>
      <p:sp>
        <p:nvSpPr>
          <p:cNvPr id="217" name="Google Shape;217;p27"/>
          <p:cNvSpPr txBox="1">
            <a:spLocks noGrp="1"/>
          </p:cNvSpPr>
          <p:nvPr>
            <p:ph type="body" idx="1"/>
          </p:nvPr>
        </p:nvSpPr>
        <p:spPr>
          <a:xfrm>
            <a:off x="385310" y="816022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/>
              <a:t/>
            </a:r>
            <a:br>
              <a:rPr lang="zh-TW" b="1" dirty="0"/>
            </a:br>
            <a:endParaRPr b="1" dirty="0"/>
          </a:p>
          <a:p>
            <a:pPr marL="14605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zh-TW" altLang="en-US" b="1" dirty="0"/>
              <a:t>嘗試做出</a:t>
            </a:r>
            <a:r>
              <a:rPr lang="zh-TW" b="1" dirty="0" smtClean="0"/>
              <a:t>動</a:t>
            </a:r>
            <a:r>
              <a:rPr lang="zh-TW" b="1" dirty="0"/>
              <a:t>態地圖（可縮放）</a:t>
            </a:r>
            <a:br>
              <a:rPr lang="zh-TW" b="1" dirty="0"/>
            </a:br>
            <a:endParaRPr b="1" dirty="0"/>
          </a:p>
          <a:p>
            <a:pPr marL="14605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 altLang="en-US" b="1" dirty="0" smtClean="0"/>
              <a:t>增加</a:t>
            </a:r>
            <a:r>
              <a:rPr lang="zh-TW" b="1" dirty="0" smtClean="0"/>
              <a:t>多</a:t>
            </a:r>
            <a:r>
              <a:rPr lang="zh-TW" altLang="en-US" b="1" dirty="0" smtClean="0"/>
              <a:t>個</a:t>
            </a:r>
            <a:r>
              <a:rPr lang="zh-TW" b="1" dirty="0" smtClean="0"/>
              <a:t>區</a:t>
            </a:r>
            <a:r>
              <a:rPr lang="zh-TW" b="1" dirty="0"/>
              <a:t>域、多任</a:t>
            </a:r>
            <a:r>
              <a:rPr lang="zh-TW" b="1" dirty="0" smtClean="0"/>
              <a:t>務</a:t>
            </a:r>
            <a:r>
              <a:rPr lang="zh-TW" altLang="en-US" b="1" dirty="0" smtClean="0"/>
              <a:t>的</a:t>
            </a:r>
            <a:r>
              <a:rPr lang="zh-TW" b="1" dirty="0" smtClean="0"/>
              <a:t>攻</a:t>
            </a:r>
            <a:r>
              <a:rPr lang="zh-TW" b="1" dirty="0"/>
              <a:t>略</a:t>
            </a:r>
            <a:br>
              <a:rPr lang="zh-TW" b="1" dirty="0"/>
            </a:br>
            <a:endParaRPr b="1" dirty="0"/>
          </a:p>
          <a:p>
            <a:pPr marL="14605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zh-TW" altLang="en-US" b="1" dirty="0" smtClean="0"/>
              <a:t>加強</a:t>
            </a:r>
            <a:r>
              <a:rPr lang="zh-TW" b="1" dirty="0" smtClean="0"/>
              <a:t>後</a:t>
            </a:r>
            <a:r>
              <a:rPr lang="zh-TW" b="1" dirty="0"/>
              <a:t>端 + 資料庫管理內容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>
            <a:spLocks noGrp="1"/>
          </p:cNvSpPr>
          <p:nvPr>
            <p:ph type="title"/>
          </p:nvPr>
        </p:nvSpPr>
        <p:spPr>
          <a:xfrm>
            <a:off x="211775" y="198178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b="1" dirty="0"/>
              <a:t>對之後 AI 課程的期待</a:t>
            </a:r>
            <a:endParaRPr b="1" dirty="0"/>
          </a:p>
        </p:txBody>
      </p:sp>
      <p:sp>
        <p:nvSpPr>
          <p:cNvPr id="223" name="Google Shape;223;p28"/>
          <p:cNvSpPr txBox="1">
            <a:spLocks noGrp="1"/>
          </p:cNvSpPr>
          <p:nvPr>
            <p:ph type="body" idx="1"/>
          </p:nvPr>
        </p:nvSpPr>
        <p:spPr>
          <a:xfrm>
            <a:off x="512124" y="125653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sz="1800" b="1" dirty="0"/>
              <a:t>111534104</a:t>
            </a:r>
            <a:r>
              <a:rPr lang="zh-TW" altLang="en-US" sz="1800" b="1" dirty="0"/>
              <a:t>黃也</a:t>
            </a:r>
            <a:r>
              <a:rPr lang="zh-TW" altLang="en-US" sz="1800" b="1" dirty="0" smtClean="0"/>
              <a:t>哲</a:t>
            </a:r>
            <a:r>
              <a:rPr lang="en-US" altLang="zh-TW" sz="1800" b="1" dirty="0" smtClean="0"/>
              <a:t>:</a:t>
            </a:r>
            <a:r>
              <a:rPr lang="zh-TW" altLang="en-US" sz="1800" b="1" dirty="0"/>
              <a:t>期待學會精準指令與跨工具整合，打</a:t>
            </a:r>
            <a:r>
              <a:rPr lang="zh-TW" altLang="en-US" sz="1800" b="1" dirty="0" smtClean="0"/>
              <a:t>造 </a:t>
            </a:r>
            <a:r>
              <a:rPr lang="en-US" altLang="zh-TW" sz="1800" b="1" dirty="0"/>
              <a:t>AI </a:t>
            </a:r>
            <a:r>
              <a:rPr lang="zh-TW" altLang="en-US" sz="1800" b="1" dirty="0"/>
              <a:t>自動化工作流程</a:t>
            </a:r>
            <a:endParaRPr lang="en-US" altLang="zh-TW" sz="1800" b="1" dirty="0" smtClean="0"/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111534115</a:t>
            </a: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李宗</a:t>
            </a:r>
            <a:r>
              <a:rPr lang="zh-TW" alt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軒</a:t>
            </a:r>
            <a:r>
              <a:rPr lang="en-US" altLang="zh-TW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altLang="en-US" sz="1800" b="1" dirty="0"/>
              <a:t>期待掌握 </a:t>
            </a:r>
            <a:r>
              <a:rPr lang="en-US" altLang="zh-TW" sz="1800" b="1" dirty="0"/>
              <a:t>AI </a:t>
            </a:r>
            <a:r>
              <a:rPr lang="zh-TW" altLang="en-US" sz="1800" b="1" dirty="0"/>
              <a:t>輔助決策與創意生成的技</a:t>
            </a:r>
            <a:r>
              <a:rPr lang="zh-TW" altLang="en-US" sz="1800" b="1" dirty="0" smtClean="0"/>
              <a:t>巧。</a:t>
            </a:r>
            <a:endParaRPr lang="en-US" altLang="zh-TW" sz="1800" b="1" dirty="0" smtClean="0"/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111534118</a:t>
            </a:r>
            <a:r>
              <a:rPr lang="zh-TW" altLang="en-US" sz="1800" b="1" dirty="0">
                <a:latin typeface="Calibri" panose="020F0502020204030204" pitchFamily="34" charset="0"/>
                <a:cs typeface="Calibri" panose="020F0502020204030204" pitchFamily="34" charset="0"/>
              </a:rPr>
              <a:t>馬宇</a:t>
            </a:r>
            <a:r>
              <a:rPr lang="zh-TW" altLang="en-US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承</a:t>
            </a:r>
            <a:r>
              <a:rPr lang="en-US" altLang="zh-TW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zh-TW" altLang="en-US" sz="1800" b="1" dirty="0"/>
              <a:t>期待深究 </a:t>
            </a:r>
            <a:r>
              <a:rPr lang="en-US" altLang="zh-TW" sz="1800" b="1" dirty="0"/>
              <a:t>AI </a:t>
            </a:r>
            <a:r>
              <a:rPr lang="zh-TW" altLang="en-US" sz="1800" b="1" dirty="0"/>
              <a:t>底層邏輯與最新應用趨勢，建立人機協作的競爭優</a:t>
            </a:r>
            <a:r>
              <a:rPr lang="zh-TW" altLang="en-US" sz="1800" b="1" dirty="0" smtClean="0"/>
              <a:t>勢。</a:t>
            </a:r>
            <a:endParaRPr sz="18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>
            <a:spLocks noGrp="1"/>
          </p:cNvSpPr>
          <p:nvPr>
            <p:ph type="title"/>
          </p:nvPr>
        </p:nvSpPr>
        <p:spPr>
          <a:xfrm>
            <a:off x="2843700" y="2094450"/>
            <a:ext cx="34566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000" b="1" dirty="0"/>
              <a:t>謝謝大家</a:t>
            </a:r>
            <a:endParaRPr sz="60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444</Words>
  <Application>Microsoft Office PowerPoint</Application>
  <PresentationFormat>如螢幕大小 (16:9)</PresentationFormat>
  <Paragraphs>93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Calibri</vt:lpstr>
      <vt:lpstr>Roboto Mono</vt:lpstr>
      <vt:lpstr>微軟正黑體</vt:lpstr>
      <vt:lpstr>Nunito</vt:lpstr>
      <vt:lpstr>Arial</vt:lpstr>
      <vt:lpstr>Shift</vt:lpstr>
      <vt:lpstr>《Peak》遊戲攻略靜態網站</vt:lpstr>
      <vt:lpstr>專案介紹（REQ）</vt:lpstr>
      <vt:lpstr>PowerPoint 簡報</vt:lpstr>
      <vt:lpstr>PowerPoint 簡報</vt:lpstr>
      <vt:lpstr>需求與分析（SA）</vt:lpstr>
      <vt:lpstr>功能性需求</vt:lpstr>
      <vt:lpstr>非功能性需求</vt:lpstr>
      <vt:lpstr>流程圖</vt:lpstr>
      <vt:lpstr>系統架構與展示（SD） </vt:lpstr>
      <vt:lpstr>核心功能展示</vt:lpstr>
      <vt:lpstr>問題與解決方案</vt:lpstr>
      <vt:lpstr>心得與未來展望</vt:lpstr>
      <vt:lpstr>未來可以改進的地方</vt:lpstr>
      <vt:lpstr>對之後 AI 課程的期待</vt:lpstr>
      <vt:lpstr>謝謝大家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《Peak》遊戲攻略靜態網站</dc:title>
  <cp:lastModifiedBy>User</cp:lastModifiedBy>
  <cp:revision>11</cp:revision>
  <dcterms:modified xsi:type="dcterms:W3CDTF">2026-01-13T05:55:56Z</dcterms:modified>
</cp:coreProperties>
</file>